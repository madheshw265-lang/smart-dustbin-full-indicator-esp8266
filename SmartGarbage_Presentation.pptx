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mA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1F2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WiFi TX</c:v>
                  </c:pt>
                  <c:pt idx="1">
                    <c:v>Sensor Read</c:v>
                  </c:pt>
                  <c:pt idx="2">
                    <c:v>LED/Buzzer</c:v>
                  </c:pt>
                  <c:pt idx="3">
                    <c:v>Idle/Sleep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2</c:v>
                </c:pt>
                <c:pt idx="2">
                  <c:v>1.5</c:v>
                </c:pt>
                <c:pt idx="3">
                  <c:v>12.3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bubble3D val="0"/>
            <c:spPr>
              <a:solidFill>
                <a:srgbClr val="0D1F2D"/>
              </a:solidFill>
              <a:effectLst/>
            </c:spPr>
          </c:dPt>
          <c:dPt>
            <c:idx val="3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bubble3D val="0"/>
            <c:spPr>
              <a:solidFill>
                <a:srgbClr val="02C39A"/>
              </a:solidFill>
              <a:effectLst/>
            </c:spPr>
          </c:dPt>
          <c:dPt>
            <c:idx val="5"/>
            <c:bubble3D val="0"/>
            <c:spPr>
              <a:solidFill>
                <a:srgbClr val="6D2E46"/>
              </a:solidFill>
              <a:effectLst/>
            </c:spPr>
          </c:dPt>
          <c:dPt>
            <c:idx val="6"/>
            <c:bubble3D val="0"/>
            <c:spPr>
              <a:solidFill>
                <a:srgbClr val="F9E79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NodeMCU</c:v>
                </c:pt>
                <c:pt idx="1">
                  <c:v>HC-SR04</c:v>
                </c:pt>
                <c:pt idx="2">
                  <c:v>Dustbin</c:v>
                </c:pt>
                <c:pt idx="3">
                  <c:v>Breadboard</c:v>
                </c:pt>
                <c:pt idx="4">
                  <c:v>Jumper Wires</c:v>
                </c:pt>
                <c:pt idx="5">
                  <c:v>Buzzer</c:v>
                </c:pt>
                <c:pt idx="6">
                  <c:v>LED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250</c:v>
                </c:pt>
                <c:pt idx="1">
                  <c:v>80</c:v>
                </c:pt>
                <c:pt idx="2">
                  <c:v>100</c:v>
                </c:pt>
                <c:pt idx="3">
                  <c:v>60</c:v>
                </c:pt>
                <c:pt idx="4">
                  <c:v>50</c:v>
                </c:pt>
                <c:pt idx="5">
                  <c:v>30</c:v>
                </c:pt>
                <c:pt idx="6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0F7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GARBAGE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OVERFLOW DETECTION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IoT (WiFi) — NodeMCU ESP8266 &amp; Ultrasonic Sensor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4864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Jason D  |  Krishnaraja D  |  Kathirvel K  |  Hemanth E  |  Madhesh 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Tagore Engineering College  ·  Anna University  ·  May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Science and Engineering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8097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 ·  WiFi  ·  Ultrasonic Sensing  ·  Smart City  ·  Waste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ABSTRACT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🌆  Waste management is a critical challenge in modern urban cities with rapidly growing solid waste volumes.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0992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Our IoT-based system uses an HC-SR04 ultrasonic sensor + NodeMCU ESP8266 to monitor garbage fill levels in real-time.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14016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45973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When the bin is full, the system activates LED &amp; buzzer alerts and sends WiFi notifications to a mobile app.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163824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20954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Results: ±1% measurement accuracy, ~110ms alert response, 7-day battery life, WiFi range up to 100 meters.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913632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95935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Total cost: under ₹600 (US$7-8) — making mass deployment viable for smart city waste management programs.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Smart garbage system · IoT · Ultrasonic sensor · NodeMCU ESP8266 · WiFi · Waste management · Smart city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&amp;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 TRADITIONAL SYSTEMS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023360" cy="566928"/>
          </a:xfrm>
          <a:prstGeom prst="rect">
            <a:avLst/>
          </a:prstGeom>
          <a:solidFill>
            <a:srgbClr val="FFF0F0"/>
          </a:solidFill>
          <a:ln w="6350">
            <a:solidFill>
              <a:srgbClr val="E8C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16736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schedules → overflow when bins fill faster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47672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C0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659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into actual fill levels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596896"/>
            <a:ext cx="4023360" cy="566928"/>
          </a:xfrm>
          <a:prstGeom prst="rect">
            <a:avLst/>
          </a:prstGeom>
          <a:solidFill>
            <a:srgbClr val="FFF0F0"/>
          </a:solidFill>
          <a:ln w="6350">
            <a:solidFill>
              <a:srgbClr val="E8C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1518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wastage from inefficient collection routes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246120"/>
            <a:ext cx="4023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C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6440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hazards: pests, disease vectors from overflow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895344"/>
            <a:ext cx="4023360" cy="566928"/>
          </a:xfrm>
          <a:prstGeom prst="rect">
            <a:avLst/>
          </a:prstGeom>
          <a:solidFill>
            <a:srgbClr val="FFF0F0"/>
          </a:solidFill>
          <a:ln w="6350">
            <a:solidFill>
              <a:srgbClr val="E8C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91363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for decision-making or route optimization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822960"/>
            <a:ext cx="402336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822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298448"/>
            <a:ext cx="4023360" cy="493776"/>
          </a:xfrm>
          <a:prstGeom prst="rect">
            <a:avLst/>
          </a:prstGeom>
          <a:solidFill>
            <a:srgbClr val="E8F7F5"/>
          </a:solidFill>
          <a:ln w="6350">
            <a:solidFill>
              <a:srgbClr val="B0DD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31673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IoT system for real-time garbage monitoring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865376"/>
            <a:ext cx="4023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B0DD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8836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 sensor for accurate level detection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432304"/>
            <a:ext cx="4023360" cy="493776"/>
          </a:xfrm>
          <a:prstGeom prst="rect">
            <a:avLst/>
          </a:prstGeom>
          <a:solidFill>
            <a:srgbClr val="E8F7F5"/>
          </a:solidFill>
          <a:ln w="6350">
            <a:solidFill>
              <a:srgbClr val="B0DD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4505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ESP8266 as central processor with built-in WiFi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999232"/>
            <a:ext cx="4023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B0DD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+ buzzer alerts when bins reach capacity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566160"/>
            <a:ext cx="4023360" cy="493776"/>
          </a:xfrm>
          <a:prstGeom prst="rect">
            <a:avLst/>
          </a:prstGeom>
          <a:solidFill>
            <a:srgbClr val="E8F7F5"/>
          </a:solidFill>
          <a:ln w="6350">
            <a:solidFill>
              <a:srgbClr val="B0DD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5844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cloud/mobile app status transmission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4133088"/>
            <a:ext cx="4023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B0DD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41513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feasibility for smart city implementation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1600200" cy="384048"/>
          </a:xfrm>
          <a:prstGeom prst="rect">
            <a:avLst/>
          </a:prstGeom>
          <a:solidFill>
            <a:srgbClr val="0D6B7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412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LAYER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16002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6B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984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HC-SR04 Ultrasonic Sensor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93852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Measures distance to garbage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257860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40kHz pulses, ±2cm 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74520" y="2057400"/>
            <a:ext cx="109728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20116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841248"/>
            <a:ext cx="16002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8412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0" y="1261872"/>
            <a:ext cx="16002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12984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NodeMCU ESP8266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84832" y="193852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Calculates fill percentage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84832" y="257860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 comparison logic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11880" y="2057400"/>
            <a:ext cx="109728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20116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841248"/>
            <a:ext cx="1600200" cy="384048"/>
          </a:xfrm>
          <a:prstGeom prst="rect">
            <a:avLst/>
          </a:prstGeom>
          <a:solidFill>
            <a:srgbClr val="02A87F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8412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LAYER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49040" y="1261872"/>
            <a:ext cx="16002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A8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22192" y="12984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 Indicator (visual)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22192" y="193852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Buzzer (audio alert)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22192" y="257860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Activated at thresholds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2057400"/>
            <a:ext cx="109728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20116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841248"/>
            <a:ext cx="16002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8412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0" y="1261872"/>
            <a:ext cx="16002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12984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WiFi (802.11 b/g/n)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59552" y="193852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 / MQTT protocol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59552" y="257860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 to 100m range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86600" y="2057400"/>
            <a:ext cx="109728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7086600" y="201168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▶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23760" y="841248"/>
            <a:ext cx="1600200" cy="384048"/>
          </a:xfrm>
          <a:prstGeom prst="rect">
            <a:avLst/>
          </a:prstGeom>
          <a:solidFill>
            <a:srgbClr val="026070"/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0" y="8412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223760" y="1261872"/>
            <a:ext cx="16002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60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96912" y="12984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platform / ThingSpeak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96912" y="193852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 notifications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96912" y="257860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dashboard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429000"/>
            <a:ext cx="8595360" cy="150876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ultrasonic sensor measures the gap between sensor (bin top) and garbage surface. NodeMCU processes data every 2 seconds.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FULL_THRESHOLD = 10cm → rapid blink + continuous buzz + WiFi alert  |  WARN_THRESHOLD = 18cm → slow blink + pulsed buzz  |  Normal ≥ 18cm → no alert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 DESCRIPTION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920240"/>
          </a:xfrm>
          <a:prstGeom prst="rect">
            <a:avLst/>
          </a:prstGeom>
          <a:solidFill>
            <a:srgbClr val="F0F7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ESP8266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32-bit Tensilica CPU @ 80/160MHz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160KB RAM, 4MB Flash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802.11 b/g/n WiFi built-in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11226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11 GPIO pins, 1 ADC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41401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80–160mA active, 0.015mA sleep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160520" cy="1920240"/>
          </a:xfrm>
          <a:prstGeom prst="rect">
            <a:avLst/>
          </a:prstGeom>
          <a:solidFill>
            <a:srgbClr val="F0F7F8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822960"/>
            <a:ext cx="4160520" cy="34747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8229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 Sensor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20700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Operating frequency: 40kHz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15087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Range: 2–400cm, ±2cm accuracy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18105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Resolution: 0.3cm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11226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5V DC, 15mA current draw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41401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Cone angle: 15°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4160520" cy="1920240"/>
          </a:xfrm>
          <a:prstGeom prst="rect">
            <a:avLst/>
          </a:prstGeom>
          <a:solidFill>
            <a:srgbClr val="F0F7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80360"/>
            <a:ext cx="416052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803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+ Buzzer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26440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LED: 2.0–2.2V forward, 20mA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35661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100,000+ hour LED lifespan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38679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Buzzer: 5V, 2–2.5kHz, 85dB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416966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Visual + audio dual alert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447141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Series resistor protection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880360"/>
            <a:ext cx="4160520" cy="1920240"/>
          </a:xfrm>
          <a:prstGeom prst="rect">
            <a:avLst/>
          </a:prstGeom>
          <a:solidFill>
            <a:srgbClr val="F0F7F8"/>
          </a:solidFill>
          <a:ln w="19050">
            <a:solidFill>
              <a:srgbClr val="0260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880360"/>
            <a:ext cx="4160520" cy="347472"/>
          </a:xfrm>
          <a:prstGeom prst="rect">
            <a:avLst/>
          </a:prstGeom>
          <a:solidFill>
            <a:srgbClr val="026070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8803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26440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5V USB for stationary use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35661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9V battery + LM7805 regulator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38679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2–3 day runtime (WiFi on)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416966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7–10 day runtime (WiFi off)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447141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Brownout protection at 4.5V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are commercially available, low-cost, and well-documented for Arduino/NodeMCU development.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WORKING PRINCIPLE &amp; CIRCUIT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120640" cy="347472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OPERATION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5120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43584"/>
            <a:ext cx="48463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10µs trigger pulse sent to TRIG pin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Sensor emits 40kHz ultrasonic pulse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Sound reflects off garbage → returns to receiver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(cm) = (echo_duration × 0.034) /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450592"/>
            <a:ext cx="5120640" cy="347472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4505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CONNECTIONS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5120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7121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⮕  HC-SR04 TRIG → NodeMCU D6 (GPIO12)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2004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⮕  HC-SR04 ECHO → NodeMCU D7 (GPIO13)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529584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⮕  HC-SR04 VCC/GND → NodeMCU 5V/GND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85876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⮕  LED Anode → NodeMCU D1 (GPIO5) via 220Ω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418795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⮕  Buzzer (+) → NodeMCU D2 (GPIO4)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822960"/>
            <a:ext cx="3200400" cy="347472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8229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1207008"/>
            <a:ext cx="749808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120700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19088" y="1207008"/>
            <a:ext cx="658368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120700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77456" y="1207008"/>
            <a:ext cx="1024128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7077456" y="120700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101584" y="1207008"/>
            <a:ext cx="749808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8101584" y="120700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0" y="1591056"/>
            <a:ext cx="749808" cy="457200"/>
          </a:xfrm>
          <a:prstGeom prst="rect">
            <a:avLst/>
          </a:prstGeom>
          <a:solidFill>
            <a:srgbClr val="E8F7F5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159105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18 cm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19088" y="1591056"/>
            <a:ext cx="658368" cy="457200"/>
          </a:xfrm>
          <a:prstGeom prst="rect">
            <a:avLst/>
          </a:prstGeom>
          <a:solidFill>
            <a:srgbClr val="E8F7F5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1591056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77456" y="1591056"/>
            <a:ext cx="1024128" cy="457200"/>
          </a:xfrm>
          <a:prstGeom prst="rect">
            <a:avLst/>
          </a:prstGeom>
          <a:solidFill>
            <a:srgbClr val="E8F7F5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77456" y="159105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01584" y="1591056"/>
            <a:ext cx="749808" cy="457200"/>
          </a:xfrm>
          <a:prstGeom prst="rect">
            <a:avLst/>
          </a:prstGeom>
          <a:solidFill>
            <a:srgbClr val="E8F7F5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01584" y="159105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0" y="2066544"/>
            <a:ext cx="749808" cy="457200"/>
          </a:xfrm>
          <a:prstGeom prst="rect">
            <a:avLst/>
          </a:prstGeom>
          <a:solidFill>
            <a:srgbClr val="FFF8E0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2066544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10–18 cm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19088" y="2066544"/>
            <a:ext cx="658368" cy="457200"/>
          </a:xfrm>
          <a:prstGeom prst="rect">
            <a:avLst/>
          </a:prstGeom>
          <a:solidFill>
            <a:srgbClr val="FFF8E0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2066544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77456" y="2066544"/>
            <a:ext cx="1024128" cy="457200"/>
          </a:xfrm>
          <a:prstGeom prst="rect">
            <a:avLst/>
          </a:prstGeom>
          <a:solidFill>
            <a:srgbClr val="FFF8E0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77456" y="206654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blinks/5s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101584" y="2066544"/>
            <a:ext cx="749808" cy="457200"/>
          </a:xfrm>
          <a:prstGeom prst="rect">
            <a:avLst/>
          </a:prstGeom>
          <a:solidFill>
            <a:srgbClr val="FFF8E0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01584" y="2066544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0" y="2542032"/>
            <a:ext cx="749808" cy="457200"/>
          </a:xfrm>
          <a:prstGeom prst="rect">
            <a:avLst/>
          </a:prstGeom>
          <a:solidFill>
            <a:srgbClr val="FFEEEE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254203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cm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19088" y="2542032"/>
            <a:ext cx="658368" cy="457200"/>
          </a:xfrm>
          <a:prstGeom prst="rect">
            <a:avLst/>
          </a:prstGeom>
          <a:solidFill>
            <a:srgbClr val="FFEEEE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9088" y="2542032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77456" y="2542032"/>
            <a:ext cx="1024128" cy="457200"/>
          </a:xfrm>
          <a:prstGeom prst="rect">
            <a:avLst/>
          </a:prstGeom>
          <a:solidFill>
            <a:srgbClr val="FFEEEE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77456" y="254203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rapid blinks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101584" y="2542032"/>
            <a:ext cx="749808" cy="457200"/>
          </a:xfrm>
          <a:prstGeom prst="rect">
            <a:avLst/>
          </a:prstGeom>
          <a:solidFill>
            <a:srgbClr val="FFEEEE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01584" y="254203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69280" y="2834640"/>
            <a:ext cx="3200400" cy="347472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51" name="Text 49"/>
          <p:cNvSpPr/>
          <p:nvPr/>
        </p:nvSpPr>
        <p:spPr>
          <a:xfrm>
            <a:off x="5669280" y="2834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 SENT VIA WiFi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69280" y="3218688"/>
            <a:ext cx="3200400" cy="13075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3" name="Text 51"/>
          <p:cNvSpPr/>
          <p:nvPr/>
        </p:nvSpPr>
        <p:spPr>
          <a:xfrm>
            <a:off x="5760720" y="3246120"/>
            <a:ext cx="3017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"bin_id": "BIN_001",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"warning",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"fill_pct": 65,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"distance_cm": 12.5,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"2026-05-02T10:30:45Z" 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DISCUSSION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Accuracy Test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960120" cy="338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15568"/>
            <a:ext cx="960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(cm)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34440" y="1115568"/>
            <a:ext cx="1005840" cy="338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115568"/>
            <a:ext cx="1005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(cm)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40280" y="1115568"/>
            <a:ext cx="960120" cy="338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1115568"/>
            <a:ext cx="960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(cm)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777240" cy="338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115568"/>
            <a:ext cx="777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481328"/>
            <a:ext cx="960120" cy="365760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481328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34440" y="1481328"/>
            <a:ext cx="1005840" cy="365760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48132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40280" y="1481328"/>
            <a:ext cx="960120" cy="365760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1481328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481328"/>
            <a:ext cx="777240" cy="365760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48132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865376"/>
            <a:ext cx="960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865376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34440" y="18653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186537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40280" y="1865376"/>
            <a:ext cx="960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1865376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1865376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186537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249424"/>
            <a:ext cx="960120" cy="365760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249424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34440" y="2249424"/>
            <a:ext cx="1005840" cy="365760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4440" y="224942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40280" y="2249424"/>
            <a:ext cx="960120" cy="365760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40280" y="2249424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2249424"/>
            <a:ext cx="777240" cy="365760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224942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2633472"/>
            <a:ext cx="960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63347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234440" y="2633472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34440" y="26334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49.8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40280" y="2633472"/>
            <a:ext cx="960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40280" y="263347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0" y="2633472"/>
            <a:ext cx="777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263347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017520"/>
            <a:ext cx="960120" cy="365760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0175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234440" y="3017520"/>
            <a:ext cx="1005840" cy="365760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34440" y="30175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40280" y="3017520"/>
            <a:ext cx="960120" cy="365760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40280" y="30175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0" y="3017520"/>
            <a:ext cx="777240" cy="365760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0" y="30175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4320" y="3401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74320" y="3749040"/>
            <a:ext cx="3749040" cy="685800"/>
          </a:xfrm>
          <a:prstGeom prst="rect">
            <a:avLst/>
          </a:prstGeom>
          <a:solidFill>
            <a:srgbClr val="F0F7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785616"/>
            <a:ext cx="35661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 → LED/Buzzer alert: ~110ms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 transitions tested and confirmed.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0" y="777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</a:t>
            </a:r>
            <a:endParaRPr lang="en-US" sz="1300" dirty="0"/>
          </a:p>
        </p:txBody>
      </p:sp>
      <p:graphicFrame>
        <p:nvGraphicFramePr>
          <p:cNvPr id="57" name="Chart 0" descr=""/>
          <p:cNvGraphicFramePr/>
          <p:nvPr/>
        </p:nvGraphicFramePr>
        <p:xfrm>
          <a:off x="4572000" y="1097280"/>
          <a:ext cx="429768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8" name="Text 55"/>
          <p:cNvSpPr/>
          <p:nvPr/>
        </p:nvSpPr>
        <p:spPr>
          <a:xfrm>
            <a:off x="4572000" y="35661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Average: 23.8mA → Battery Life: ~84 hours (3.5 days) with WiFi on, 7–10 days with WiFi off (2000mAh battery)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4572000" y="4114800"/>
            <a:ext cx="4297680" cy="82296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60" name="Text 57"/>
          <p:cNvSpPr/>
          <p:nvPr/>
        </p:nvSpPr>
        <p:spPr>
          <a:xfrm>
            <a:off x="4663440" y="41605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range: 100m LOS / 50m through walls  ·  Works 5–50°C  ·  Up to 95% RH humidity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 ANALYSIS &amp;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651760" cy="338328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15568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0" y="1115568"/>
            <a:ext cx="822960" cy="338328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1115568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(₹)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813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ESP8266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481328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4813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47088"/>
            <a:ext cx="2651760" cy="347472"/>
          </a:xfrm>
          <a:prstGeom prst="rect">
            <a:avLst/>
          </a:prstGeom>
          <a:solidFill>
            <a:srgbClr val="F0F7F8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470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 (HC-SR04)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1847088"/>
            <a:ext cx="822960" cy="347472"/>
          </a:xfrm>
          <a:prstGeom prst="rect">
            <a:avLst/>
          </a:prstGeom>
          <a:solidFill>
            <a:srgbClr val="F0F7F8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8470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212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2212848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21284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78608"/>
            <a:ext cx="2651760" cy="347472"/>
          </a:xfrm>
          <a:prstGeom prst="rect">
            <a:avLst/>
          </a:prstGeom>
          <a:solidFill>
            <a:srgbClr val="F0F7F8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5786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0" y="2578608"/>
            <a:ext cx="822960" cy="347472"/>
          </a:xfrm>
          <a:prstGeom prst="rect">
            <a:avLst/>
          </a:prstGeom>
          <a:solidFill>
            <a:srgbClr val="F0F7F8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257860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944368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2944368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294436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310128"/>
            <a:ext cx="2651760" cy="347472"/>
          </a:xfrm>
          <a:prstGeom prst="rect">
            <a:avLst/>
          </a:prstGeom>
          <a:solidFill>
            <a:srgbClr val="F0F7F8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3101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 Wires (×10)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0" y="3310128"/>
            <a:ext cx="822960" cy="347472"/>
          </a:xfrm>
          <a:prstGeom prst="rect">
            <a:avLst/>
          </a:prstGeom>
          <a:solidFill>
            <a:srgbClr val="F0F7F8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33101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675888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6758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Dustbin Model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26080" y="3675888"/>
            <a:ext cx="822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367588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041648"/>
            <a:ext cx="2651760" cy="347472"/>
          </a:xfrm>
          <a:prstGeom prst="rect">
            <a:avLst/>
          </a:prstGeom>
          <a:solidFill>
            <a:srgbClr val="02C39A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0416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926080" y="4041648"/>
            <a:ext cx="822960" cy="347472"/>
          </a:xfrm>
          <a:prstGeom prst="rect">
            <a:avLst/>
          </a:prstGeom>
          <a:solidFill>
            <a:srgbClr val="02C39A"/>
          </a:solidFill>
          <a:ln w="6350">
            <a:solidFill>
              <a:srgbClr val="AA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404164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</a:t>
            </a:r>
            <a:endParaRPr lang="en-US" sz="110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840480" y="777240"/>
          <a:ext cx="34747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Text 39"/>
          <p:cNvSpPr/>
          <p:nvPr/>
        </p:nvSpPr>
        <p:spPr>
          <a:xfrm>
            <a:off x="274320" y="39136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Alternatives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274320" y="4270248"/>
            <a:ext cx="16459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4" name="Text 41"/>
          <p:cNvSpPr/>
          <p:nvPr/>
        </p:nvSpPr>
        <p:spPr>
          <a:xfrm>
            <a:off x="274320" y="42702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1920240" y="4270248"/>
            <a:ext cx="182880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6" name="Text 43"/>
          <p:cNvSpPr/>
          <p:nvPr/>
        </p:nvSpPr>
        <p:spPr>
          <a:xfrm>
            <a:off x="1920240" y="4270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3749040" y="4270248"/>
            <a:ext cx="21031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8" name="Text 45"/>
          <p:cNvSpPr/>
          <p:nvPr/>
        </p:nvSpPr>
        <p:spPr>
          <a:xfrm>
            <a:off x="3749040" y="42702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IoT Bin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852160" y="4270248"/>
            <a:ext cx="16459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0" name="Text 47"/>
          <p:cNvSpPr/>
          <p:nvPr/>
        </p:nvSpPr>
        <p:spPr>
          <a:xfrm>
            <a:off x="5852160" y="42702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274320" y="4617720"/>
            <a:ext cx="16459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74320" y="461772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Cost/Unit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1920240" y="4617720"/>
            <a:ext cx="1828800" cy="246888"/>
          </a:xfrm>
          <a:prstGeom prst="rect">
            <a:avLst/>
          </a:prstGeom>
          <a:solidFill>
            <a:srgbClr val="E8F7F5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920240" y="461772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 (~$7)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3749040" y="4617720"/>
            <a:ext cx="21031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749040" y="461772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₹5,000–15,000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5852160" y="4617720"/>
            <a:ext cx="16459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852160" y="4617720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 (bin only)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74320" y="4873752"/>
            <a:ext cx="1645920" cy="246888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74320" y="487375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1920240" y="4873752"/>
            <a:ext cx="1828800" cy="246888"/>
          </a:xfrm>
          <a:prstGeom prst="rect">
            <a:avLst/>
          </a:prstGeom>
          <a:solidFill>
            <a:srgbClr val="E8F7F5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920240" y="487375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3749040" y="4873752"/>
            <a:ext cx="2103120" cy="246888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749040" y="487375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5852160" y="4873752"/>
            <a:ext cx="1645920" cy="246888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852160" y="4873752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274320" y="5129784"/>
            <a:ext cx="16459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74320" y="5129784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1920240" y="5129784"/>
            <a:ext cx="1828800" cy="246888"/>
          </a:xfrm>
          <a:prstGeom prst="rect">
            <a:avLst/>
          </a:prstGeom>
          <a:solidFill>
            <a:srgbClr val="E8F7F5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920240" y="5129784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3749040" y="5129784"/>
            <a:ext cx="21031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749040" y="512978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5852160" y="5129784"/>
            <a:ext cx="164592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852160" y="5129784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274320" y="5385816"/>
            <a:ext cx="1645920" cy="246888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274320" y="5385816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Period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1920240" y="5385816"/>
            <a:ext cx="1828800" cy="246888"/>
          </a:xfrm>
          <a:prstGeom prst="rect">
            <a:avLst/>
          </a:prstGeom>
          <a:solidFill>
            <a:srgbClr val="E8F7F5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1920240" y="5385816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3749040" y="5385816"/>
            <a:ext cx="2103120" cy="246888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749040" y="538581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months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5852160" y="5385816"/>
            <a:ext cx="1645920" cy="246888"/>
          </a:xfrm>
          <a:prstGeom prst="rect">
            <a:avLst/>
          </a:prstGeom>
          <a:solidFill>
            <a:srgbClr val="F0F7F8"/>
          </a:solidFill>
          <a:ln w="6350">
            <a:solidFill>
              <a:srgbClr val="CCDDDD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852160" y="5385816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FUTURE 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solidFill>
            <a:srgbClr val="162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16152"/>
            <a:ext cx="82296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HC-SR04 achieves ±1% measurement accuracy across 10–80cm range — ideal for bin monitoring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8595360" cy="411480"/>
          </a:xfrm>
          <a:prstGeom prst="rect">
            <a:avLst/>
          </a:prstGeom>
          <a:solidFill>
            <a:srgbClr val="162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91640"/>
            <a:ext cx="82296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NodeMCU ESP8266 is cost-effective and capable for low-power IoT applications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39696"/>
            <a:ext cx="8595360" cy="411480"/>
          </a:xfrm>
          <a:prstGeom prst="rect">
            <a:avLst/>
          </a:prstGeom>
          <a:solidFill>
            <a:srgbClr val="162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67128"/>
            <a:ext cx="82296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~110ms response time from threshold breach to full alert activation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615184"/>
            <a:ext cx="8595360" cy="411480"/>
          </a:xfrm>
          <a:prstGeom prst="rect">
            <a:avLst/>
          </a:prstGeom>
          <a:solidFill>
            <a:srgbClr val="162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42616"/>
            <a:ext cx="82296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Battery-powered 2–3 days (WiFi on) / 7–10 days (WiFi off) — sufficient for urban deployment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11480"/>
          </a:xfrm>
          <a:prstGeom prst="rect">
            <a:avLst/>
          </a:prstGeom>
          <a:solidFill>
            <a:srgbClr val="162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18104"/>
            <a:ext cx="82296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Total cost under ₹600 proves economic viability for smart city mass-deployment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41648"/>
            <a:ext cx="2011680" cy="896112"/>
          </a:xfrm>
          <a:prstGeom prst="rect">
            <a:avLst/>
          </a:prstGeom>
          <a:solidFill>
            <a:srgbClr val="028090">
              <a:alpha val="70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07822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 Dashboard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" y="437083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web-based monitoring for all bins citywide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68880" y="4041648"/>
            <a:ext cx="2011680" cy="896112"/>
          </a:xfrm>
          <a:prstGeom prst="rect">
            <a:avLst/>
          </a:prstGeom>
          <a:solidFill>
            <a:srgbClr val="028090">
              <a:alpha val="70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407822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Solar Power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42032" y="437083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2–5W panel + charging for perpetual off-grid operation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4041648"/>
            <a:ext cx="2011680" cy="896112"/>
          </a:xfrm>
          <a:prstGeom prst="rect">
            <a:avLst/>
          </a:prstGeom>
          <a:solidFill>
            <a:srgbClr val="028090">
              <a:alpha val="70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407822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LoRaWAN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437083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connectivity for entire city-district coverage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0" y="4041648"/>
            <a:ext cx="2011680" cy="896112"/>
          </a:xfrm>
          <a:prstGeom prst="rect">
            <a:avLst/>
          </a:prstGeom>
          <a:solidFill>
            <a:srgbClr val="028090">
              <a:alpha val="70000"/>
            </a:srgbClr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152" y="407822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Machine Learning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31152" y="4370832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fill times and optimize collection routes with AI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94690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Garbage Overflow Detection System · Tagore Engineering College · Anna University · May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Garbage Overflow Detection System</dc:title>
  <dc:subject>PptxGenJS Presentation</dc:subject>
  <dc:creator>PptxGenJS</dc:creator>
  <cp:lastModifiedBy>PptxGenJS</cp:lastModifiedBy>
  <cp:revision>1</cp:revision>
  <dcterms:created xsi:type="dcterms:W3CDTF">2026-05-04T11:25:10Z</dcterms:created>
  <dcterms:modified xsi:type="dcterms:W3CDTF">2026-05-04T11:25:10Z</dcterms:modified>
</cp:coreProperties>
</file>